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Can Satellites Predict Grain Prices?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EA8DE"/>
                </a:solidFill>
                <a:latin typeface="Calibri"/>
              </a:defRPr>
            </a:pPr>
            <a:r>
              <a:t>GRACE Terrestrial Water Storage as a Leading Indicator for Soybean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  <a:latin typeface="Calibri"/>
              </a:defRPr>
            </a:pPr>
            <a:r>
              <a:t>Space Data FS2026 — Block II  |  ETH Zurich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AAABB"/>
                </a:solidFill>
                <a:latin typeface="Calibri"/>
              </a:defRPr>
            </a:pPr>
            <a:r>
              <a:t>ETH Zurich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13258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A8DE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0"/>
              </a:lnSpc>
              <a:spcAft>
                <a:spcPts val="42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To what extent do GRACE-derived terrestrial water storage (TWS) anomalies over Brazil's</a:t>
            </a:r>
          </a:p>
          <a:p>
            <a:pPr>
              <a:lnSpc>
                <a:spcPts val="1750"/>
              </a:lnSpc>
              <a:spcAft>
                <a:spcPts val="42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central-southern agricultural belt anticipate variations in international soybean futures</a:t>
            </a:r>
          </a:p>
          <a:p>
            <a:pPr>
              <a:lnSpc>
                <a:spcPts val="1750"/>
              </a:lnSpc>
              <a:spcAft>
                <a:spcPts val="42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prices, and what is the temporal lag structure between hydrological stress and market response?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670810" cy="1417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26708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A8DE"/>
                </a:solidFill>
                <a:latin typeface="Calibri"/>
              </a:defRPr>
            </a:pPr>
            <a:r>
              <a:t>WHY GRACE?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39649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Satellite gravimetry detects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subsurface water changes months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before surface impacts become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visible in crop canopy or markets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610" y="3108960"/>
            <a:ext cx="2670810" cy="1417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9490" y="3218688"/>
            <a:ext cx="26708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WHY BRAZIL?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9490" y="3520440"/>
            <a:ext cx="239649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World's largest soybean exporter.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Growing season (Oct-Mar) depends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on Jul-Sep water storage.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Mato Grosso, Goias, Parana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580" y="3108960"/>
            <a:ext cx="2670810" cy="1417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7460" y="3218688"/>
            <a:ext cx="26708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460" y="3520440"/>
            <a:ext cx="239649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Seo et al. (2025, Science): ~1614 Gt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global soil moisture loss since 2000.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Irreversible regime shift threatens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global food supply chains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3108960"/>
            <a:ext cx="2670810" cy="1417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998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30" y="3218688"/>
            <a:ext cx="26708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88DD"/>
                </a:solidFill>
                <a:latin typeface="Calibri"/>
              </a:defRPr>
            </a:pPr>
            <a:r>
              <a:t>STUDY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3520440"/>
            <a:ext cx="239649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Lat: 8S - 25S  |  Lon: 46W - 60W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Time: Apr 2002 - Dec 2025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GRACE gap: Jul 2017 - May 2018</a:t>
            </a:r>
          </a:p>
          <a:p>
            <a:pPr>
              <a:lnSpc>
                <a:spcPts val="1620"/>
              </a:lnSpc>
              <a:spcAft>
                <a:spcPts val="359"/>
              </a:spcAft>
              <a:defRPr sz="1200" b="0">
                <a:solidFill>
                  <a:srgbClr val="DDDDEE"/>
                </a:solidFill>
                <a:latin typeface="Calibri"/>
              </a:defRPr>
            </a:pPr>
            <a:r>
              <a:t>Drought years: 2005, 2010, 2015,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212080"/>
            <a:ext cx="109728" cy="109728"/>
          </a:xfrm>
          <a:prstGeom prst="ellipse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38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GRACE/GRACE-FO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Calibri"/>
              </a:defRPr>
            </a:pPr>
            <a:r>
              <a:t>JPL RL06.3M v04 mascons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521208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5138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ERA5-Land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Calibri"/>
              </a:defRPr>
            </a:pPr>
            <a:r>
              <a:t>Precipitation &amp; evapotranspiration (P-ET)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5212080"/>
            <a:ext cx="109728" cy="109728"/>
          </a:xfrm>
          <a:prstGeom prst="ellipse">
            <a:avLst/>
          </a:prstGeom>
          <a:solidFill>
            <a:srgbClr val="998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38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MODIS MOD13C2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Calibri"/>
              </a:defRPr>
            </a:pPr>
            <a:r>
              <a:t>Monthly NDVI cropland stress index</a:t>
            </a:r>
          </a:p>
        </p:txBody>
      </p:sp>
      <p:sp>
        <p:nvSpPr>
          <p:cNvPr id="32" name="Oval 31"/>
          <p:cNvSpPr/>
          <p:nvPr/>
        </p:nvSpPr>
        <p:spPr>
          <a:xfrm>
            <a:off x="9189720" y="5212080"/>
            <a:ext cx="109728" cy="10972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5138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CBOT Soybean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Calibri"/>
              </a:defRPr>
            </a:pPr>
            <a:r>
              <a:t>ZS=F futures via yfinance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Ref: Seo et al. (2025) Science 387, 1408-1413  |  Goncalves et al. (2020)  |  Eom et al. (2017)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 &amp;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A8DE"/>
                </a:solidFill>
                <a:latin typeface="Calibri"/>
              </a:defRPr>
            </a:pPr>
            <a:r>
              <a:t>From satellite gravimetry to commodity market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148840" cy="2560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325880"/>
            <a:ext cx="502920" cy="502920"/>
          </a:xfrm>
          <a:prstGeom prst="ellipse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DE"/>
                </a:solidFill>
                <a:latin typeface="Calibri"/>
              </a:defRPr>
            </a:pPr>
            <a:r>
              <a:t>GRACE</a:t>
            </a:r>
            <a:br/>
            <a:r>
              <a:t>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Load JPL RL06.3M v04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Apply gain factors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Mask Brazil agri belt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Area-weighted TWS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Gap interpolation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32888" y="2404872"/>
            <a:ext cx="192024" cy="219456"/>
          </a:xfrm>
          <a:prstGeom prst="rightArrow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234440"/>
            <a:ext cx="2148840" cy="2560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32588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745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EOF / PCA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PCA on masked grid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EOF1: drought mode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PC1 = drought index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Explained var: 58.5%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Positive-wet convention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10328" y="2404872"/>
            <a:ext cx="192024" cy="219456"/>
          </a:xfrm>
          <a:prstGeom prst="rightArrow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234440"/>
            <a:ext cx="2148840" cy="2560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97880" y="1325880"/>
            <a:ext cx="502920" cy="5029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8745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External</a:t>
            </a:r>
            <a:br/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ERA5: P - ET anomaly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MODIS: cropland NDVI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CBOT: soybean futures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Monthly alignment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Stationarity (ADF)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87768" y="2404872"/>
            <a:ext cx="192024" cy="219456"/>
          </a:xfrm>
          <a:prstGeom prst="rightArrow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0" y="1234440"/>
            <a:ext cx="2148840" cy="2560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132588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8745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Statistical</a:t>
            </a:r>
            <a:br/>
            <a: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4231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Cross-correlation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Bootstrap CIs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Granger causality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Lead-lag at 0-12m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Reverse direction test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65208" y="2404872"/>
            <a:ext cx="192024" cy="219456"/>
          </a:xfrm>
          <a:prstGeom prst="rightArrow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75520" y="1234440"/>
            <a:ext cx="2148840" cy="25603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52760" y="132588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8745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Validation</a:t>
            </a:r>
            <a:br/>
            <a:r>
              <a:t>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423160"/>
            <a:ext cx="1874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Drought event study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Causal chain diagram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Illustrative backtest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5 publication figures</a:t>
            </a:r>
          </a:p>
          <a:p>
            <a:pPr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 xml:space="preserve">  Physical mechanism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HYPOTHESIZED CAUSAL CHAIN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80560"/>
            <a:ext cx="1828800" cy="1005840"/>
          </a:xfrm>
          <a:prstGeom prst="round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GRACE TWS</a:t>
            </a:r>
            <a:br/>
            <a:r>
              <a:t>&lt; -1 sigma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Calibri"/>
              </a:defRPr>
            </a:pPr>
            <a:r>
              <a:t>Subsurface water</a:t>
            </a:r>
            <a:br/>
            <a:r>
              <a:t>depletion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377440" y="4800600"/>
            <a:ext cx="822960" cy="27432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434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DDDEE"/>
                </a:solidFill>
                <a:latin typeface="Calibri"/>
              </a:defRPr>
            </a:pPr>
            <a:r>
              <a:t>+1-2 months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4480560"/>
            <a:ext cx="1828800" cy="10058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MODIS NDVI</a:t>
            </a:r>
            <a:br/>
            <a:r>
              <a:t>decline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Calibri"/>
              </a:defRPr>
            </a:pPr>
            <a:r>
              <a:t>Crop canopy</a:t>
            </a:r>
            <a:br/>
            <a:r>
              <a:t>stress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663440" y="4800600"/>
            <a:ext cx="822960" cy="27432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434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DDDEE"/>
                </a:solidFill>
                <a:latin typeface="Calibri"/>
              </a:defRPr>
            </a:pPr>
            <a:r>
              <a:t>+3-5 months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4480560"/>
            <a:ext cx="1828800" cy="10058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Soybean price</a:t>
            </a:r>
            <a:br/>
            <a:r>
              <a:t>spike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BB"/>
                </a:solidFill>
                <a:latin typeface="Calibri"/>
              </a:defRPr>
            </a:pPr>
            <a:r>
              <a:t>Market yield</a:t>
            </a:r>
            <a:br/>
            <a:r>
              <a:t>expectation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4114800"/>
            <a:ext cx="4206240" cy="242316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998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4178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88DD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4526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526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Significant Granger causality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6908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TWS -&gt; Soy (p &lt; 0.05) at 4-5 month lag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80" y="49103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49103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Non-significant reverse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074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Markets do NOT predict satellite water storage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80" y="5294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529437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Three-step causal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5458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TWS -&gt; NDVI -&gt; Soybean price cascade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56784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0" y="56784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Drought event validation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58430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2005, 2010, 2015, 2021 episodes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80" y="6062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60624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Predictive window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80" y="622706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~4-6 months actionable lead 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  <a:latin typeface="Calibri"/>
              </a:defRPr>
            </a:pPr>
            <a:r>
              <a:t>Tools: Python  |  xarray  |  scikit-learn  |  statsmodels  |  cartopy  |  Google Earth Engine  |  yfinance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